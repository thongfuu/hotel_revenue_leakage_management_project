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1F1B8-8327-4BF0-BF05-D38BD55D82BA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3FD751-21B6-4A03-B722-77897AB4B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75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ca6d2a3e5d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gca6d2a3e5d_0_3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Modified from Bill Schmarzo’s Machine Learning Canvas and Jasmine Vasandani’s Data Science Workflow Canvas for SWU</a:t>
            </a:r>
            <a:endParaRPr lang="en-US"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/>
              <a:t>https://towardsdatascience.com/a-data-science-workflow-canvas-to-kickstart-your-projects-db62556be4d0</a:t>
            </a:r>
            <a:endParaRPr sz="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/>
              <a:t>https://www.digitalistmag.com/cio-knowledge/2018/10/29/data-science-paint-by-numbers-with-hypothesis-development-canvas-06191989/</a:t>
            </a:r>
            <a:endParaRPr sz="800" dirty="0"/>
          </a:p>
        </p:txBody>
      </p:sp>
      <p:sp>
        <p:nvSpPr>
          <p:cNvPr id="273" name="Google Shape;273;gca6d2a3e5d_0_3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502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C53D-7EBC-5CE5-D08A-E782823B5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F86453-40A2-9D28-8B75-B2AB49703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F6A20-901D-A51A-AC0D-E0C76DD61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CBE68-0ED0-FE69-A971-3CF47F9D6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9D7AF-B60C-A047-2F27-7A4A2347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488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A0E4F-C2C4-A216-1667-087A032B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CA789-79E8-BD4C-3F0C-F9CF5D67C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6D033-2CDE-CDCA-3691-33A9B6AF3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351AE-F643-397A-FF8D-1DABDC4C2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C71C4-3C50-3E1F-E917-33127BFAB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1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D5B1-8E34-7C0E-D219-E9E3DBFB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F7804-1157-0B32-DD7A-30CBD2316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4C1CA-069B-B1A4-654F-7857A32DB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D8590-41EE-89CB-0CCE-1D46EAF3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B4F79-5168-B626-A9AD-1BC36640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5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9E937-CBFA-DDD4-676A-27B161726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071C5-BFA8-FD09-EF41-5FF757F18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0A8A3-4398-F348-9B99-7F42ACA8A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84C0F-3CD7-9680-C035-DF5B7F4F8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CCB3D-FCB4-748B-4012-041B587C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9C0DB-1493-68D4-9D25-24170DFCB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59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D70E-3643-F9FF-42B5-565D0C5F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8A603-151F-0CD7-7F91-1A7B9B752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F605A-77D8-6557-8515-02CD56A94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BE1DE-0944-1BE4-EAAC-BEDB88538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026F19-8B32-F1A2-1E5F-CE49462C1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BEA13-2F9F-2904-27F9-009BE3E2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E42DA-9CEC-0849-4B29-ADEEC1D0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91825-C43F-EF6C-8BF0-95533BF61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70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CBD94-3CB5-D239-8C7C-2C67CFC86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3571E1-C0D9-2446-3E6D-2A84DC4A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B9A85-9772-AC22-9B69-50B0C8A61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7032E-1DFE-1DA9-F4FF-9A2837CF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9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CAA61-3D3D-DCE5-1EEB-4ABC4E366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478ED4-B596-76D2-88AE-3A4571C5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7981F-678A-0ABA-E345-12BC2F30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7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0BB3-15A4-8687-2259-C35B9E70B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CD29A-2660-F375-2978-78EE94B8B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1BEC8-A344-32F7-FE3B-F637859CD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018A7-E6F8-FD8D-CD4C-D12BB5DBD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0EA91-9B9C-0335-6B6E-FFBFC1658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28BA3-5F50-FC12-36B0-6EB610449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4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8669-D7F5-2CE8-B506-BA1F83EC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816985-873C-22C3-E2E5-7A736CB02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3D2E1-B5AE-A06B-98A9-0C240C75D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2F99A-8C1C-CA60-4F8A-D2EFC81E1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0403A-F183-058E-F491-9E90F9F7F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CA538-D400-4E04-3C62-16EB65E56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23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6825-119D-5A6A-E88D-D5489107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F5C5C-5036-BEE1-E707-2B88CBE57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F2578-AA6C-79B2-25AE-EE0693961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BF24-7D18-9A72-87B4-1188A61E8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78AB7-1601-0116-BE3B-7268BBDFD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64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954A58-788A-BE0B-CC5B-3B7FB9B62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C624D1-69D8-C7B6-573E-EE8D46065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6D62B-8BFD-85C0-999A-DC2D6F8E5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F368F-1BAA-4507-AD9C-B99054D683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2ECBB-94F4-075B-3904-431DAADE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C1262-1F4F-FE78-C18D-5A61C6DCC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46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39811-E5ED-2C30-9852-06AEC5803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79384-D803-27CC-D9B1-FF0C8EBDC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33D3C-3805-6B3D-BB29-7B4701399F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F368F-1BAA-4507-AD9C-B99054D683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C098-CF97-1223-61DC-4E9F0F5145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AD2F5-9F3B-4D28-82B2-669E40C599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4B00C-7FA9-42A7-B0EE-92CD70C00C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12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/>
          <p:nvPr/>
        </p:nvSpPr>
        <p:spPr>
          <a:xfrm>
            <a:off x="-6469" y="770117"/>
            <a:ext cx="2658230" cy="2277744"/>
          </a:xfrm>
          <a:prstGeom prst="rect">
            <a:avLst/>
          </a:prstGeom>
          <a:noFill/>
          <a:ln w="1270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rgbClr val="C00000"/>
              </a:buClr>
              <a:buSzPts val="1500"/>
            </a:pPr>
            <a:r>
              <a:rPr lang="en-GB" sz="1600" b="1" dirty="0">
                <a:latin typeface="Calibri"/>
                <a:ea typeface="Calibri"/>
                <a:cs typeface="Calibri"/>
                <a:sym typeface="Calibri"/>
              </a:rPr>
              <a:t>1. Problem Statement/Background</a:t>
            </a:r>
            <a:endParaRPr sz="1200" dirty="0"/>
          </a:p>
          <a:p>
            <a:pPr>
              <a:buClr>
                <a:schemeClr val="dk1"/>
              </a:buClr>
            </a:pPr>
            <a:endParaRPr lang="en-GB" sz="1200" dirty="0">
              <a:solidFill>
                <a:srgbClr val="A5A5A5"/>
              </a:solidFill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The Azure Stay </a:t>
            </a:r>
            <a:r>
              <a:rPr lang="th-TH" sz="1200" dirty="0">
                <a:latin typeface="Calibri" panose="020F0502020204030204" pitchFamily="34" charset="0"/>
                <a:ea typeface="Calibri" panose="020F0502020204030204" pitchFamily="34" charset="0"/>
                <a:cs typeface="Calibri"/>
                <a:sym typeface="Calibri"/>
              </a:rPr>
              <a:t>กำลังเผชิญกับภาวะ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Revenue Leakage </a:t>
            </a:r>
            <a:r>
              <a:rPr lang="th-TH" sz="1200" dirty="0">
                <a:latin typeface="Calibri" panose="020F0502020204030204" pitchFamily="34" charset="0"/>
                <a:ea typeface="Calibri" panose="020F0502020204030204" pitchFamily="34" charset="0"/>
                <a:cs typeface="Calibri"/>
                <a:sym typeface="Calibri"/>
              </a:rPr>
              <a:t>ที่เกิดจากยอดจองที่ไม่มั่นคง แม้หน้าบ้านจะดูเหมือนขายดีจนห้องเต็ม แต่เมื่อจบวันกลับมีห้องว่างเหลือทิ้งจำนวนมากจากการยกเลิกและไม่มาตามที่จองไว้ ซึ่งระบบปัจจุบันยังทำได้แค่ รับรู้ เมื่อปัญหาเกิดแล้ว แต่ไม่สามารถพยากรณ์หรือป้องกันความเสี่ยงนี้ได้ล่วงหน้า</a:t>
            </a:r>
            <a:endParaRPr lang="th-TH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78" name="Google Shape;278;p42"/>
          <p:cNvSpPr/>
          <p:nvPr/>
        </p:nvSpPr>
        <p:spPr>
          <a:xfrm>
            <a:off x="-6469" y="3047859"/>
            <a:ext cx="2505829" cy="3810141"/>
          </a:xfrm>
          <a:prstGeom prst="rect">
            <a:avLst/>
          </a:prstGeom>
          <a:noFill/>
          <a:ln w="1270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chemeClr val="dk1"/>
              </a:buClr>
            </a:pPr>
            <a:r>
              <a:rPr lang="en-GB" sz="1600" b="1" dirty="0">
                <a:latin typeface="Calibri"/>
                <a:ea typeface="Calibri"/>
                <a:cs typeface="Calibri"/>
                <a:sym typeface="Calibri"/>
              </a:rPr>
              <a:t>4. Key Metrics/Attributes</a:t>
            </a:r>
          </a:p>
          <a:p>
            <a:pPr>
              <a:buClr>
                <a:schemeClr val="dk1"/>
              </a:buClr>
            </a:pPr>
            <a:endParaRPr lang="en-GB" sz="1600" b="1" dirty="0"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</a:pPr>
            <a:r>
              <a:rPr lang="en-GB" sz="1200" b="1" dirty="0">
                <a:latin typeface="Calibri"/>
                <a:ea typeface="Calibri"/>
                <a:cs typeface="Calibri"/>
                <a:sym typeface="Calibri"/>
              </a:rPr>
              <a:t>Key Metrics (</a:t>
            </a:r>
            <a:r>
              <a:rPr lang="th-TH" sz="1200" b="1" dirty="0">
                <a:latin typeface="Calibri"/>
                <a:ea typeface="Calibri"/>
                <a:cs typeface="Calibri"/>
                <a:sym typeface="Calibri"/>
              </a:rPr>
              <a:t>ตัวชี้วัดหลัก)</a:t>
            </a:r>
            <a:endParaRPr lang="en-GB" sz="1200" b="1" dirty="0"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True Expected Loss (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มูลค่าความเสียหายสุทธิที่คาดว่าจะเกิดขึ้นจริง)</a:t>
            </a:r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Revenue Loss (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รายได้ที่สูญเสียไป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Cancellation Rate &amp; No-Show Rate</a:t>
            </a: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Recovery Days (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ระยะเวลาที่เหลือในการนำห้องไปขายต่อ)</a:t>
            </a:r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Lead Time (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ระยะเวลาการจองล่วงหน้า)</a:t>
            </a:r>
            <a:endParaRPr lang="en-US" sz="1200" b="1" dirty="0"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</a:pPr>
            <a:r>
              <a:rPr lang="en-GB" sz="1200" b="1" dirty="0">
                <a:latin typeface="Calibri"/>
                <a:ea typeface="Calibri"/>
                <a:cs typeface="Calibri"/>
                <a:sym typeface="Calibri"/>
              </a:rPr>
              <a:t>Key Attributes</a:t>
            </a:r>
            <a:r>
              <a:rPr lang="en-US" sz="1200" b="1" dirty="0"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Booking Channel &amp; Channel Type</a:t>
            </a: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Cancellation Window &amp; Lead Time Group</a:t>
            </a: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Policy Type &amp; Deposit Status</a:t>
            </a: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Room Type</a:t>
            </a: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Market Segment (Geography)</a:t>
            </a: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Guest Profile</a:t>
            </a:r>
          </a:p>
          <a:p>
            <a:pPr>
              <a:buClr>
                <a:schemeClr val="dk1"/>
              </a:buClr>
            </a:pPr>
            <a:endParaRPr sz="1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E3B8F1F-A002-8171-CA6A-4AF79C342C13}"/>
              </a:ext>
            </a:extLst>
          </p:cNvPr>
          <p:cNvGrpSpPr/>
          <p:nvPr/>
        </p:nvGrpSpPr>
        <p:grpSpPr>
          <a:xfrm>
            <a:off x="2651762" y="770117"/>
            <a:ext cx="2854954" cy="2277744"/>
            <a:chOff x="3222464" y="770117"/>
            <a:chExt cx="1804869" cy="290157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80E9028-A87B-A0C5-F19E-F1975E98CDD8}"/>
                </a:ext>
              </a:extLst>
            </p:cNvPr>
            <p:cNvSpPr txBox="1"/>
            <p:nvPr/>
          </p:nvSpPr>
          <p:spPr>
            <a:xfrm>
              <a:off x="3243940" y="775666"/>
              <a:ext cx="178339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Calibri"/>
                  <a:ea typeface="Calibri"/>
                  <a:cs typeface="Calibri"/>
                </a:rPr>
                <a:t>2. SMART Objectives/ Value Propositions</a:t>
              </a:r>
            </a:p>
            <a:p>
              <a:endParaRPr lang="en-US" sz="1200" dirty="0">
                <a:solidFill>
                  <a:srgbClr val="A5A5A5"/>
                </a:solidFill>
                <a:latin typeface="Calibri"/>
                <a:ea typeface="Calibri"/>
                <a:cs typeface="Calibri"/>
              </a:endParaRPr>
            </a:p>
            <a:p>
              <a:r>
                <a:rPr lang="th-TH" sz="1200" dirty="0">
                  <a:latin typeface="Calibri"/>
                  <a:ea typeface="Calibri"/>
                  <a:cs typeface="Calibri"/>
                </a:rPr>
                <a:t>เพื่อกู้คืนรายได้ที่สูญเสียไป อย่างน้อย 15% ภายในระยะเวลา 2 ไตรมาสเมื่อเทียบกับไตรมาสก่อนหน้า</a:t>
              </a:r>
            </a:p>
            <a:p>
              <a:r>
                <a:rPr lang="th-TH" sz="1200" dirty="0">
                  <a:latin typeface="Calibri"/>
                  <a:ea typeface="Calibri"/>
                  <a:cs typeface="Calibri"/>
                </a:rPr>
                <a:t>โดยอาศัยการวิเคราะห์ข้อมูลพฤติกรรมการยกเลิกการจอง เพื่อช่วยให้โรงแรมสามารถคัดเลือกลูกค้าที่มีความน่าเชื่อถือได้อย่างเหมาะสม</a:t>
              </a:r>
              <a:endParaRPr lang="en-US" sz="1200" dirty="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79" name="Google Shape;279;p42"/>
            <p:cNvSpPr/>
            <p:nvPr/>
          </p:nvSpPr>
          <p:spPr>
            <a:xfrm>
              <a:off x="3222464" y="770117"/>
              <a:ext cx="1804869" cy="2901572"/>
            </a:xfrm>
            <a:prstGeom prst="rect">
              <a:avLst/>
            </a:prstGeom>
            <a:noFill/>
            <a:ln w="12700" cap="flat" cmpd="sng">
              <a:solidFill>
                <a:schemeClr val="accent6">
                  <a:lumMod val="60000"/>
                  <a:lumOff val="40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>
                <a:buClr>
                  <a:schemeClr val="dk1"/>
                </a:buClr>
              </a:pPr>
              <a:endParaRPr sz="1467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>
                <a:buClr>
                  <a:schemeClr val="dk1"/>
                </a:buClr>
              </a:pPr>
              <a:endParaRPr sz="1467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>
                <a:buClr>
                  <a:schemeClr val="dk1"/>
                </a:buClr>
              </a:pPr>
              <a:endParaRPr sz="1467" dirty="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42"/>
          <p:cNvSpPr/>
          <p:nvPr/>
        </p:nvSpPr>
        <p:spPr>
          <a:xfrm>
            <a:off x="5506717" y="770117"/>
            <a:ext cx="6685283" cy="2277883"/>
          </a:xfrm>
          <a:prstGeom prst="rect">
            <a:avLst/>
          </a:prstGeom>
          <a:noFill/>
          <a:ln w="1270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chemeClr val="dk1"/>
              </a:buClr>
            </a:pPr>
            <a:r>
              <a:rPr lang="en-US" sz="1600" b="1" dirty="0">
                <a:latin typeface="Calibri"/>
                <a:ea typeface="Calibri"/>
                <a:cs typeface="Calibri"/>
                <a:sym typeface="Calibri"/>
              </a:rPr>
              <a:t>3. Questions/Hypothesis</a:t>
            </a:r>
            <a:endParaRPr lang="en-US" sz="1600" dirty="0"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</a:pPr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ถึงจะมีจำนวนการ 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Cancel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เยอะกว่ามาก แต่ 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No-Show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สร้างความเสียหายสุทธิมากกว่า</a:t>
            </a:r>
          </a:p>
          <a:p>
            <a:pPr>
              <a:buClr>
                <a:schemeClr val="dk1"/>
              </a:buClr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การจองผ่านช่องทาง 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OTA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อื่นๆทำให้มีการ 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Cancel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และ 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No-Show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มากกว่าจองตรงกับโรงแรม</a:t>
            </a:r>
          </a:p>
          <a:p>
            <a:pPr>
              <a:buClr>
                <a:schemeClr val="dk1"/>
              </a:buClr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การยกเลิกส่วนใหญ่เกิดจากการจองที่มี 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Policy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แบบ 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Flexible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การบังคับวางมัดจำ (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Strict Deposit Policy)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สามารถกดอัตราการยกเลิกให้</a:t>
            </a:r>
            <a:r>
              <a:rPr lang="th-TH" sz="1200" dirty="0" err="1">
                <a:latin typeface="Calibri"/>
                <a:ea typeface="Calibri"/>
                <a:cs typeface="Calibri"/>
                <a:sym typeface="Calibri"/>
              </a:rPr>
              <a:t>ต่ำลง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ได้</a:t>
            </a:r>
          </a:p>
          <a:p>
            <a:pPr>
              <a:buClr>
                <a:schemeClr val="dk1"/>
              </a:buClr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อัตราการยกเลิกจะพุ่งสูงขึ้นอย่างผิดปกติในช่วงช่วงเทศกาล หรือตามฤดูกาลต่างๆ</a:t>
            </a:r>
          </a:p>
          <a:p>
            <a:pPr>
              <a:buClr>
                <a:schemeClr val="dk1"/>
              </a:buClr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ลูกค้าต่างทวีปมีพฤติกรรมการยกเลิกที่แตกต่างจากลูกค้าในประเทศ</a:t>
            </a:r>
          </a:p>
          <a:p>
            <a:pPr>
              <a:buClr>
                <a:schemeClr val="dk1"/>
              </a:buClr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การยกเลิกส่วนใหญ่มักเกิดขึ้นซ้ำๆจากลูกค้ากลุ่ม</a:t>
            </a:r>
            <a:r>
              <a:rPr lang="th-TH" sz="1200" dirty="0" err="1">
                <a:latin typeface="Calibri"/>
                <a:ea typeface="Calibri"/>
                <a:cs typeface="Calibri"/>
                <a:sym typeface="Calibri"/>
              </a:rPr>
              <a:t>เดิมๆ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Serial Cancellers)</a:t>
            </a:r>
          </a:p>
          <a:p>
            <a:pPr>
              <a:buClr>
                <a:schemeClr val="dk1"/>
              </a:buClr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7.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ยิ่งจองล่วงหน้านาน (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Long Lead Time)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โอกาสยกเลิกยิ่งสูง และมักจะกดยกเลิกใกล้กับวันเข้าพัก</a:t>
            </a:r>
          </a:p>
          <a:p>
            <a:pPr>
              <a:buClr>
                <a:schemeClr val="dk1"/>
              </a:buClr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8. No-Show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มักเกิดขึ้นกระจุกตัวในวันหยุดสุดสัปดาห์ (ศุกร์-อาทิตย์)</a:t>
            </a:r>
          </a:p>
        </p:txBody>
      </p:sp>
      <p:sp>
        <p:nvSpPr>
          <p:cNvPr id="289" name="Google Shape;289;p42"/>
          <p:cNvSpPr/>
          <p:nvPr/>
        </p:nvSpPr>
        <p:spPr>
          <a:xfrm>
            <a:off x="2499360" y="3047859"/>
            <a:ext cx="2052327" cy="3810141"/>
          </a:xfrm>
          <a:prstGeom prst="rect">
            <a:avLst/>
          </a:prstGeom>
          <a:noFill/>
          <a:ln w="1270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600" b="1" dirty="0">
                <a:latin typeface="Calibri"/>
                <a:ea typeface="Calibri"/>
                <a:cs typeface="Calibri"/>
                <a:sym typeface="Calibri"/>
              </a:rPr>
              <a:t>5. Analysis/Model</a:t>
            </a:r>
            <a:endParaRPr sz="1200" dirty="0"/>
          </a:p>
          <a:p>
            <a:endParaRPr lang="en-US" sz="1467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(EDA): </a:t>
            </a:r>
            <a:r>
              <a:rPr lang="th-TH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การสำรวจข้อมูลพฤติกรรมการจองและการยกเลิก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Hypothesis Testing: </a:t>
            </a:r>
            <a:r>
              <a:rPr lang="th-TH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ทดสอบสมมติฐาน เพื่อพิสูจน์ความเชื่อทางธุรกิจด้วยข้อมูลจริง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Risk-to-Revenue Mapping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(Necessity Index): </a:t>
            </a:r>
            <a:r>
              <a:rPr lang="th-TH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สร้างโมเดลจัดอันดับความเสี่ยงเพื่อหา กลุ่มวิกฤต ที่ต้องบังคับใช้นโยบายมัดจำ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Profiling &amp; Behavioral Analysis: </a:t>
            </a:r>
            <a:r>
              <a:rPr lang="th-TH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การจัดกลุ่มพฤติกรรมลูกค้า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Fields Engineering</a:t>
            </a:r>
            <a:endParaRPr lang="th-TH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0" name="Google Shape;290;p42"/>
          <p:cNvSpPr/>
          <p:nvPr/>
        </p:nvSpPr>
        <p:spPr>
          <a:xfrm>
            <a:off x="7406641" y="3047861"/>
            <a:ext cx="4785359" cy="3810139"/>
          </a:xfrm>
          <a:prstGeom prst="rect">
            <a:avLst/>
          </a:prstGeom>
          <a:noFill/>
          <a:ln w="1270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600" b="1" dirty="0">
                <a:latin typeface="Calibri"/>
                <a:ea typeface="Calibri"/>
                <a:cs typeface="Calibri"/>
                <a:sym typeface="Calibri"/>
              </a:rPr>
              <a:t>7. Recommendation/Action and Impact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</a:pPr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</a:pP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ข้อเสนอแนะเชิงปฏิบัติการ</a:t>
            </a:r>
            <a:endParaRPr lang="en-GB" sz="1200" dirty="0">
              <a:latin typeface="Calibri"/>
              <a:ea typeface="Calibri"/>
              <a:cs typeface="Calibri"/>
              <a:sym typeface="Calibri"/>
            </a:endParaRPr>
          </a:p>
          <a:p>
            <a:pPr marL="228600" indent="-228600">
              <a:buClr>
                <a:schemeClr val="dk1"/>
              </a:buClr>
              <a:buFont typeface="+mj-lt"/>
              <a:buAutoNum type="arabicPeriod"/>
            </a:pP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นโยบายยกเลิกขั้นบันได: บังคับใช้เงื่อนไขไม่คืนเงิน (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Non-Refundable)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สำหรับการยกเลิก 0-6 วันล่วงหน้า และเก็บมัดจำร้อยละ 50 สำหรับการจอง 7-30 วัน</a:t>
            </a:r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  <a:p>
            <a:pPr marL="228600" indent="-228600">
              <a:buClr>
                <a:schemeClr val="dk1"/>
              </a:buClr>
              <a:buFont typeface="+mj-lt"/>
              <a:buAutoNum type="arabicPeriod"/>
            </a:pP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คุ้มครองห้องพรีเมียม: บังคับเก็บมัดจำห้องสวีททุกกรณี และใช้ระบบ 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CRM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แจ้งเตือน/แบล็กลิสต์กลุ่มลูกค้ายกเลิกซ้ำซาก</a:t>
            </a:r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  <a:p>
            <a:pPr marL="228600" indent="-228600">
              <a:buClr>
                <a:schemeClr val="dk1"/>
              </a:buClr>
              <a:buFont typeface="+mj-lt"/>
              <a:buAutoNum type="arabicPeriod"/>
            </a:pP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ควบคุม 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OTA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และตลาดเสี่ยง: ยกเลิกนโยบายคืนเงินฟรีสำหรับตลาดเอเชีย ควบคุมราคาให้เท่ากันทุกช่องทาง (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Rate Parity)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และเพิ่มสิทธิประโยชน์เพื่อดึงดูดการจองตรง (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Direct Booking)</a:t>
            </a:r>
          </a:p>
          <a:p>
            <a:pPr marL="228600" indent="-228600">
              <a:buClr>
                <a:schemeClr val="dk1"/>
              </a:buClr>
              <a:buFont typeface="+mj-lt"/>
              <a:buAutoNum type="arabicPeriod"/>
            </a:pP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จัดการ 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No-Show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เชิงรุก: กันวงเงินบัตรเครดิตล่วงหน้า 24-48 ชั่วโมง และนำห้องพักคืนที่เหลือไปปล่อยขายใหม่ทันที (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Dynamic Inventory Release)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เมื่อลูกค้าไม่เข้าพัก</a:t>
            </a:r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</a:pP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ผลลัพธ์ที่คาดหวัง</a:t>
            </a: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228600" indent="-228600">
              <a:buClr>
                <a:schemeClr val="dk1"/>
              </a:buClr>
              <a:buFont typeface="+mj-lt"/>
              <a:buAutoNum type="arabicPeriod"/>
            </a:pP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กู้คืนรายได้สุทธิที่สูญเสียไปกลับมาได้อย่างน้อยร้อยละ 15 ภายใน 2 ไตรมาส</a:t>
            </a:r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  <a:p>
            <a:pPr marL="228600" indent="-228600">
              <a:buClr>
                <a:schemeClr val="dk1"/>
              </a:buClr>
              <a:buFont typeface="+mj-lt"/>
              <a:buAutoNum type="arabicPeriod"/>
            </a:pP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ขจัดปัญหาอุปสงค์เทียม ทำให้ยอดจองสะท้อนความต้องการจริง (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Stable Demand)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ช่วยให้วางแผนต้นทุนและบุคลากรได้แม่นยำขึ้น</a:t>
            </a:r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  <a:p>
            <a:pPr marL="228600" indent="-228600">
              <a:buClr>
                <a:schemeClr val="dk1"/>
              </a:buClr>
              <a:buFont typeface="+mj-lt"/>
              <a:buAutoNum type="arabicPeriod"/>
            </a:pP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ลดการพึ่งพาและภาระค่าคอม</a:t>
            </a:r>
            <a:r>
              <a:rPr lang="th-TH" sz="1200" dirty="0" err="1">
                <a:latin typeface="Calibri"/>
                <a:ea typeface="Calibri"/>
                <a:cs typeface="Calibri"/>
                <a:sym typeface="Calibri"/>
              </a:rPr>
              <a:t>มิช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ชันจาก 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OTA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โดยเปลี่ยนสัดส่วนรายได้มามุ่งเน้นการจองตรงและการจองระดับองค์กร (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Corporate)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มากขึ้น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90;p42">
            <a:extLst>
              <a:ext uri="{FF2B5EF4-FFF2-40B4-BE49-F238E27FC236}">
                <a16:creationId xmlns:a16="http://schemas.microsoft.com/office/drawing/2014/main" id="{B820ACFC-D77A-80E9-88D7-A6A95A43AC44}"/>
              </a:ext>
            </a:extLst>
          </p:cNvPr>
          <p:cNvSpPr/>
          <p:nvPr/>
        </p:nvSpPr>
        <p:spPr>
          <a:xfrm>
            <a:off x="4551687" y="3047792"/>
            <a:ext cx="2854954" cy="3810208"/>
          </a:xfrm>
          <a:prstGeom prst="rect">
            <a:avLst/>
          </a:prstGeom>
          <a:noFill/>
          <a:ln w="12700" cap="flat" cmpd="sng">
            <a:solidFill>
              <a:schemeClr val="accent6">
                <a:lumMod val="60000"/>
                <a:lumOff val="40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600" b="1" dirty="0"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lang="en-US" sz="1600" b="1" dirty="0">
                <a:latin typeface="Calibri"/>
                <a:ea typeface="Calibri"/>
                <a:cs typeface="Calibri"/>
                <a:sym typeface="Calibri"/>
              </a:rPr>
              <a:t>Findings and Insights</a:t>
            </a:r>
            <a:endParaRPr sz="1467" dirty="0"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</a:pPr>
            <a:endParaRPr lang="th-TH" sz="1200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n-GB" sz="1200" b="1" dirty="0">
                <a:latin typeface="Calibri"/>
                <a:ea typeface="Calibri"/>
                <a:cs typeface="Calibri"/>
                <a:sym typeface="Calibri"/>
              </a:rPr>
              <a:t>Last-Minute Cancellation: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สร้างความเสียหายสูงสุดร้อยละ 76.9 (ราว 20.8 ล้านบาท) ของความเสียหายทั้งหมด เนื่องจากมีเวลาไม่พอในการนำห้องไปจำหน่ายใหม่</a:t>
            </a: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th-TH" sz="1200" b="1" dirty="0">
                <a:latin typeface="Calibri"/>
                <a:ea typeface="Calibri"/>
                <a:cs typeface="Calibri"/>
                <a:sym typeface="Calibri"/>
              </a:rPr>
              <a:t>อุปสงค์เทียมจาก </a:t>
            </a:r>
            <a:r>
              <a:rPr lang="en-GB" sz="1200" b="1" dirty="0">
                <a:latin typeface="Calibri"/>
                <a:ea typeface="Calibri"/>
                <a:cs typeface="Calibri"/>
                <a:sym typeface="Calibri"/>
              </a:rPr>
              <a:t>OTA</a:t>
            </a:r>
            <a:r>
              <a:rPr lang="en-US" sz="1200" b="1" dirty="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เงื่อนไขยกเลิกฟรี (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Fully Flexible)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บน 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OTA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เอื้อให้ลูกค้ากักตุนห้อง โดยเฉพาะตลาดเอเชีย</a:t>
            </a:r>
            <a:endParaRPr lang="en-US" sz="1200" dirty="0">
              <a:latin typeface="Calibri"/>
              <a:ea typeface="Calibri"/>
              <a:cs typeface="Calibri"/>
              <a:sym typeface="Calibri"/>
            </a:endParaRP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th-TH" sz="1200" b="1" dirty="0">
                <a:latin typeface="Calibri"/>
                <a:ea typeface="Calibri"/>
                <a:cs typeface="Calibri"/>
                <a:sym typeface="Calibri"/>
              </a:rPr>
              <a:t>ปัญหาผู้ยกเลิกซ้ำซ้อน (</a:t>
            </a:r>
            <a:r>
              <a:rPr lang="en-GB" sz="1200" b="1" dirty="0">
                <a:latin typeface="Calibri"/>
                <a:ea typeface="Calibri"/>
                <a:cs typeface="Calibri"/>
                <a:sym typeface="Calibri"/>
              </a:rPr>
              <a:t>Serial Cancellers):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แม้มีจำนวนเพียงร้อยละ 3.4 แต่สร้างความเสียหายเฉลี่ยเกือบ 1 แสนบาท/คน จากพฤติกรรมกักตุนห้องพักราคาสูง (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Suite)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แล้วยกเลิกกะทันหัน</a:t>
            </a:r>
          </a:p>
          <a:p>
            <a:pPr marL="171450" indent="-171450"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th-TH" sz="1200" b="1" dirty="0">
                <a:latin typeface="Calibri"/>
                <a:ea typeface="Calibri"/>
                <a:cs typeface="Calibri"/>
                <a:sym typeface="Calibri"/>
              </a:rPr>
              <a:t>ความเสียหายลูกโซ่จาก </a:t>
            </a:r>
            <a:r>
              <a:rPr lang="en-GB" sz="1200" b="1" dirty="0">
                <a:latin typeface="Calibri"/>
                <a:ea typeface="Calibri"/>
                <a:cs typeface="Calibri"/>
                <a:sym typeface="Calibri"/>
              </a:rPr>
              <a:t>No-Show: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การไม่เข้าพักของการจองแบบต่อเนื่อง (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Multi-night)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ทำให้เกิดห้องว่างที่จำหน่ายต่อไม่ได้รวมกว่า 1,296 คืน และสูญเสียโอกาสรับรายได้เสริม (</a:t>
            </a:r>
            <a:r>
              <a:rPr lang="en-GB" sz="1200" dirty="0">
                <a:latin typeface="Calibri"/>
                <a:ea typeface="Calibri"/>
                <a:cs typeface="Calibri"/>
                <a:sym typeface="Calibri"/>
              </a:rPr>
              <a:t>Ancillary Revenue) </a:t>
            </a:r>
            <a:r>
              <a:rPr lang="th-TH" sz="1200" dirty="0">
                <a:latin typeface="Calibri"/>
                <a:ea typeface="Calibri"/>
                <a:cs typeface="Calibri"/>
                <a:sym typeface="Calibri"/>
              </a:rPr>
              <a:t>โดยสิ้นเชิง</a:t>
            </a:r>
          </a:p>
          <a:p>
            <a:pPr>
              <a:buClr>
                <a:schemeClr val="dk1"/>
              </a:buClr>
            </a:pPr>
            <a:endParaRPr lang="en-GB" sz="1200" dirty="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86;p42">
            <a:extLst>
              <a:ext uri="{FF2B5EF4-FFF2-40B4-BE49-F238E27FC236}">
                <a16:creationId xmlns:a16="http://schemas.microsoft.com/office/drawing/2014/main" id="{4B1C38AE-384F-232F-C3A0-EC35AFAAFBC9}"/>
              </a:ext>
            </a:extLst>
          </p:cNvPr>
          <p:cNvSpPr/>
          <p:nvPr/>
        </p:nvSpPr>
        <p:spPr>
          <a:xfrm>
            <a:off x="0" y="-11236"/>
            <a:ext cx="12192000" cy="7813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en-GB" sz="2000" b="1" dirty="0">
                <a:latin typeface="Calibri"/>
                <a:ea typeface="Calibri"/>
                <a:cs typeface="Calibri"/>
                <a:sym typeface="Calibri"/>
              </a:rPr>
              <a:t>DATA ANALYTICS PROJECT CANVAS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Title: Maximizing Revenue Stability by Minimizing Cancellations &amp; No-Shows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E4DFCCF1-1904-2D75-9D39-638C354BF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14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863</Words>
  <Application>Microsoft Office PowerPoint</Application>
  <PresentationFormat>Widescreen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Nuwee Wiwatwattana</dc:creator>
  <cp:lastModifiedBy>Korawich Chunoi</cp:lastModifiedBy>
  <cp:revision>5</cp:revision>
  <dcterms:created xsi:type="dcterms:W3CDTF">2026-01-02T14:12:03Z</dcterms:created>
  <dcterms:modified xsi:type="dcterms:W3CDTF">2026-05-10T11:54:59Z</dcterms:modified>
</cp:coreProperties>
</file>